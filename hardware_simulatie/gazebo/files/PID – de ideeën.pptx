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5" r:id="rId4"/>
    <p:sldId id="279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27A16-B045-40A9-B8C4-352F58D9C0C0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878C7-0D77-4621-BBE7-79B4104C1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37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7662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452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395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5846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51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021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1174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12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27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6483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el, tekst en 2 inhoudseleme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inhoud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nl-NL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nl-NL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07EA2E-00EB-4DA7-83F0-BDEA74307CE6}" type="slidenum">
              <a:rPr lang="en-US" altLang="nl-NL"/>
              <a:pPr>
                <a:defRPr/>
              </a:pPr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4130356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30C3E-0808-4B97-8583-2CE685C683BD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EFE4D-26BA-4A9E-AE2C-3BD30D13C7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961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nl/url?sa=i&amp;rct=j&amp;q=&amp;esrc=s&amp;frm=1&amp;source=images&amp;cd=&amp;cad=rja&amp;uact=8&amp;docid=1fmqsiPODQpQjM&amp;tbnid=v10Tp-6gm2fYPM:&amp;ved=0CAcQjRw&amp;url=http://www.marinelink.com/news/pioneer-sperry-modern369254.aspx&amp;ei=ZFQhVLXOAYeBywOykYHYDA&amp;psig=AFQjCNHkk13Ca57Ti-fK4392T9Ut73ZT3Q&amp;ust=1411556767250543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6" Type="http://schemas.openxmlformats.org/officeDocument/2006/relationships/image" Target="../media/image4.jpe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PID – de ideeën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@ Bart Bozon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548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91544" y="332656"/>
            <a:ext cx="8229600" cy="1143000"/>
          </a:xfrm>
        </p:spPr>
        <p:txBody>
          <a:bodyPr/>
          <a:lstStyle/>
          <a:p>
            <a:r>
              <a:rPr lang="nl-NL" dirty="0"/>
              <a:t>Schepen op koers houden</a:t>
            </a:r>
          </a:p>
        </p:txBody>
      </p:sp>
      <p:pic>
        <p:nvPicPr>
          <p:cNvPr id="103426" name="Picture 2" descr="https://encrypted-tbn3.gstatic.com/images?q=tbn:ANd9GcT0zNB6psAj3I4BqxbWJFI4Db71BF70JM2Noa6U3bSjRGYiuKdH0A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704" y="1844824"/>
            <a:ext cx="5832648" cy="462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kstvak 5"/>
          <p:cNvSpPr txBox="1"/>
          <p:nvPr/>
        </p:nvSpPr>
        <p:spPr>
          <a:xfrm>
            <a:off x="1826701" y="1988841"/>
            <a:ext cx="1391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Elmer</a:t>
            </a:r>
            <a:r>
              <a:rPr lang="nl-NL" dirty="0"/>
              <a:t> </a:t>
            </a:r>
            <a:r>
              <a:rPr lang="nl-NL" dirty="0" err="1"/>
              <a:t>Sperry</a:t>
            </a:r>
            <a:endParaRPr lang="nl-NL" dirty="0"/>
          </a:p>
          <a:p>
            <a:r>
              <a:rPr lang="nl-NL" dirty="0"/>
              <a:t>~1911 </a:t>
            </a:r>
          </a:p>
        </p:txBody>
      </p:sp>
    </p:spTree>
    <p:extLst>
      <p:ext uri="{BB962C8B-B14F-4D97-AF65-F5344CB8AC3E}">
        <p14:creationId xmlns:p14="http://schemas.microsoft.com/office/powerpoint/2010/main" val="440804861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/>
          <p:cNvCxnSpPr/>
          <p:nvPr/>
        </p:nvCxnSpPr>
        <p:spPr>
          <a:xfrm flipH="1">
            <a:off x="7527235" y="3101009"/>
            <a:ext cx="13252" cy="2080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Schip</a:t>
            </a:r>
          </a:p>
        </p:txBody>
      </p:sp>
      <p:pic>
        <p:nvPicPr>
          <p:cNvPr id="105474" name="Picture 2" descr="http://www.ussdempsey.com/Ship_Graphics/EVARTS-TOP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934275">
            <a:off x="1950652" y="4943124"/>
            <a:ext cx="2623268" cy="46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Rechte verbindingslijn 6"/>
          <p:cNvCxnSpPr/>
          <p:nvPr/>
        </p:nvCxnSpPr>
        <p:spPr>
          <a:xfrm>
            <a:off x="3361559" y="841207"/>
            <a:ext cx="0" cy="516617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8"/>
          <p:cNvCxnSpPr/>
          <p:nvPr/>
        </p:nvCxnSpPr>
        <p:spPr>
          <a:xfrm>
            <a:off x="3007879" y="764704"/>
            <a:ext cx="216024" cy="309634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met pijl 13"/>
          <p:cNvCxnSpPr/>
          <p:nvPr/>
        </p:nvCxnSpPr>
        <p:spPr>
          <a:xfrm>
            <a:off x="3007879" y="980728"/>
            <a:ext cx="353680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vak 14"/>
          <p:cNvSpPr txBox="1"/>
          <p:nvPr/>
        </p:nvSpPr>
        <p:spPr>
          <a:xfrm>
            <a:off x="4779146" y="531497"/>
            <a:ext cx="302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fout e(t) = setpoint(t)-</a:t>
            </a:r>
            <a:r>
              <a:rPr lang="nl-NL" dirty="0" err="1"/>
              <a:t>actual</a:t>
            </a:r>
            <a:r>
              <a:rPr lang="nl-NL" dirty="0"/>
              <a:t>(t)</a:t>
            </a:r>
          </a:p>
        </p:txBody>
      </p:sp>
      <p:sp>
        <p:nvSpPr>
          <p:cNvPr id="16" name="Tekstvak 15"/>
          <p:cNvSpPr txBox="1"/>
          <p:nvPr/>
        </p:nvSpPr>
        <p:spPr>
          <a:xfrm>
            <a:off x="3713780" y="1700808"/>
            <a:ext cx="7529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Amerikaanse marine : hoe houd je een schip op koers?</a:t>
            </a:r>
          </a:p>
        </p:txBody>
      </p:sp>
      <p:sp>
        <p:nvSpPr>
          <p:cNvPr id="10" name="Tekstvak 14"/>
          <p:cNvSpPr txBox="1"/>
          <p:nvPr/>
        </p:nvSpPr>
        <p:spPr>
          <a:xfrm>
            <a:off x="2927649" y="54597"/>
            <a:ext cx="958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setpoint</a:t>
            </a:r>
          </a:p>
        </p:txBody>
      </p:sp>
      <p:sp>
        <p:nvSpPr>
          <p:cNvPr id="4" name="Oval 3"/>
          <p:cNvSpPr/>
          <p:nvPr/>
        </p:nvSpPr>
        <p:spPr>
          <a:xfrm>
            <a:off x="3329755" y="697558"/>
            <a:ext cx="77288" cy="1436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060" y="3851385"/>
            <a:ext cx="1798340" cy="1692555"/>
          </a:xfrm>
          <a:prstGeom prst="rect">
            <a:avLst/>
          </a:prstGeom>
        </p:spPr>
      </p:pic>
      <p:sp>
        <p:nvSpPr>
          <p:cNvPr id="18" name="Tekstvak 14"/>
          <p:cNvSpPr txBox="1"/>
          <p:nvPr/>
        </p:nvSpPr>
        <p:spPr>
          <a:xfrm>
            <a:off x="2416946" y="384220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actual</a:t>
            </a:r>
            <a:endParaRPr lang="nl-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37833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build="p"/>
      <p:bldP spid="10" grpId="0"/>
      <p:bldP spid="4" grpId="0" animBg="1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H="1">
            <a:off x="7527235" y="3101009"/>
            <a:ext cx="13252" cy="2080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Idee 1</a:t>
            </a:r>
          </a:p>
        </p:txBody>
      </p:sp>
      <p:pic>
        <p:nvPicPr>
          <p:cNvPr id="105474" name="Picture 2" descr="http://www.ussdempsey.com/Ship_Graphics/EVARTS-TOP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934275">
            <a:off x="1950652" y="4943124"/>
            <a:ext cx="2623268" cy="46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Rechte verbindingslijn 6"/>
          <p:cNvCxnSpPr/>
          <p:nvPr/>
        </p:nvCxnSpPr>
        <p:spPr>
          <a:xfrm>
            <a:off x="3361559" y="841207"/>
            <a:ext cx="0" cy="516617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8"/>
          <p:cNvCxnSpPr/>
          <p:nvPr/>
        </p:nvCxnSpPr>
        <p:spPr>
          <a:xfrm>
            <a:off x="3007879" y="764704"/>
            <a:ext cx="216024" cy="309634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met pijl 13"/>
          <p:cNvCxnSpPr/>
          <p:nvPr/>
        </p:nvCxnSpPr>
        <p:spPr>
          <a:xfrm>
            <a:off x="3007879" y="980728"/>
            <a:ext cx="353680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vak 14"/>
          <p:cNvSpPr txBox="1"/>
          <p:nvPr/>
        </p:nvSpPr>
        <p:spPr>
          <a:xfrm>
            <a:off x="4779146" y="531497"/>
            <a:ext cx="302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fout e(t) = setpoint(t)-</a:t>
            </a:r>
            <a:r>
              <a:rPr lang="nl-NL" dirty="0" err="1"/>
              <a:t>actual</a:t>
            </a:r>
            <a:r>
              <a:rPr lang="nl-NL" dirty="0"/>
              <a:t>(t)</a:t>
            </a:r>
          </a:p>
        </p:txBody>
      </p:sp>
      <p:sp>
        <p:nvSpPr>
          <p:cNvPr id="16" name="Tekstvak 15"/>
          <p:cNvSpPr txBox="1"/>
          <p:nvPr/>
        </p:nvSpPr>
        <p:spPr>
          <a:xfrm>
            <a:off x="3713780" y="1700808"/>
            <a:ext cx="7529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Hoe groter de fout, hoe groter de uitslag.</a:t>
            </a:r>
          </a:p>
        </p:txBody>
      </p:sp>
      <p:sp>
        <p:nvSpPr>
          <p:cNvPr id="10" name="Tekstvak 14"/>
          <p:cNvSpPr txBox="1"/>
          <p:nvPr/>
        </p:nvSpPr>
        <p:spPr>
          <a:xfrm>
            <a:off x="2927649" y="54597"/>
            <a:ext cx="958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setpoint</a:t>
            </a:r>
          </a:p>
        </p:txBody>
      </p:sp>
      <p:sp>
        <p:nvSpPr>
          <p:cNvPr id="4" name="Oval 3"/>
          <p:cNvSpPr/>
          <p:nvPr/>
        </p:nvSpPr>
        <p:spPr>
          <a:xfrm>
            <a:off x="3329755" y="697558"/>
            <a:ext cx="77288" cy="1436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060" y="3851385"/>
            <a:ext cx="1798340" cy="1692555"/>
          </a:xfrm>
          <a:prstGeom prst="rect">
            <a:avLst/>
          </a:prstGeom>
        </p:spPr>
      </p:pic>
      <p:sp>
        <p:nvSpPr>
          <p:cNvPr id="18" name="Tekstvak 14"/>
          <p:cNvSpPr txBox="1"/>
          <p:nvPr/>
        </p:nvSpPr>
        <p:spPr>
          <a:xfrm>
            <a:off x="2416946" y="384220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actual</a:t>
            </a:r>
            <a:endParaRPr lang="nl-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880841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900000">
                                      <p:cBhvr>
                                        <p:cTn id="1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/>
          <p:cNvCxnSpPr/>
          <p:nvPr/>
        </p:nvCxnSpPr>
        <p:spPr>
          <a:xfrm flipH="1">
            <a:off x="7527235" y="3101009"/>
            <a:ext cx="13252" cy="2080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Idee 1</a:t>
            </a:r>
          </a:p>
        </p:txBody>
      </p:sp>
      <p:pic>
        <p:nvPicPr>
          <p:cNvPr id="105474" name="Picture 2" descr="http://www.ussdempsey.com/Ship_Graphics/EVARTS-TOP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934275">
            <a:off x="1950652" y="4943124"/>
            <a:ext cx="2623268" cy="46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Rechte verbindingslijn 6"/>
          <p:cNvCxnSpPr/>
          <p:nvPr/>
        </p:nvCxnSpPr>
        <p:spPr>
          <a:xfrm>
            <a:off x="3361559" y="841207"/>
            <a:ext cx="0" cy="516617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8"/>
          <p:cNvCxnSpPr/>
          <p:nvPr/>
        </p:nvCxnSpPr>
        <p:spPr>
          <a:xfrm>
            <a:off x="3007879" y="764704"/>
            <a:ext cx="216024" cy="309634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met pijl 13"/>
          <p:cNvCxnSpPr/>
          <p:nvPr/>
        </p:nvCxnSpPr>
        <p:spPr>
          <a:xfrm>
            <a:off x="3007879" y="980728"/>
            <a:ext cx="353680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vak 14"/>
          <p:cNvSpPr txBox="1"/>
          <p:nvPr/>
        </p:nvSpPr>
        <p:spPr>
          <a:xfrm>
            <a:off x="4779146" y="531497"/>
            <a:ext cx="302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fout e(t) = setpoint(t)-</a:t>
            </a:r>
            <a:r>
              <a:rPr lang="nl-NL" dirty="0" err="1"/>
              <a:t>actual</a:t>
            </a:r>
            <a:r>
              <a:rPr lang="nl-NL" dirty="0"/>
              <a:t>(t)</a:t>
            </a:r>
          </a:p>
        </p:txBody>
      </p:sp>
      <p:sp>
        <p:nvSpPr>
          <p:cNvPr id="16" name="Tekstvak 15"/>
          <p:cNvSpPr txBox="1"/>
          <p:nvPr/>
        </p:nvSpPr>
        <p:spPr>
          <a:xfrm>
            <a:off x="3713780" y="1700808"/>
            <a:ext cx="7529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Hoe groter de fout, hoe groter de uitslag.</a:t>
            </a:r>
          </a:p>
        </p:txBody>
      </p:sp>
      <p:sp>
        <p:nvSpPr>
          <p:cNvPr id="10" name="Tekstvak 14"/>
          <p:cNvSpPr txBox="1"/>
          <p:nvPr/>
        </p:nvSpPr>
        <p:spPr>
          <a:xfrm>
            <a:off x="2927649" y="54597"/>
            <a:ext cx="958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setpoint</a:t>
            </a:r>
          </a:p>
        </p:txBody>
      </p:sp>
      <p:sp>
        <p:nvSpPr>
          <p:cNvPr id="4" name="Oval 3"/>
          <p:cNvSpPr/>
          <p:nvPr/>
        </p:nvSpPr>
        <p:spPr>
          <a:xfrm>
            <a:off x="3329755" y="697558"/>
            <a:ext cx="77288" cy="1436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0">
            <a:off x="6668060" y="3851385"/>
            <a:ext cx="1798340" cy="1692555"/>
          </a:xfrm>
          <a:prstGeom prst="rect">
            <a:avLst/>
          </a:prstGeom>
        </p:spPr>
      </p:pic>
      <p:sp>
        <p:nvSpPr>
          <p:cNvPr id="18" name="Tekstvak 14"/>
          <p:cNvSpPr txBox="1"/>
          <p:nvPr/>
        </p:nvSpPr>
        <p:spPr>
          <a:xfrm>
            <a:off x="2416946" y="384220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actual</a:t>
            </a:r>
            <a:endParaRPr lang="nl-NL" dirty="0"/>
          </a:p>
        </p:txBody>
      </p:sp>
      <p:sp>
        <p:nvSpPr>
          <p:cNvPr id="13" name="Tekstvak 15"/>
          <p:cNvSpPr txBox="1"/>
          <p:nvPr/>
        </p:nvSpPr>
        <p:spPr>
          <a:xfrm>
            <a:off x="3713780" y="2382541"/>
            <a:ext cx="7529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Stuuractie is “</a:t>
            </a:r>
            <a:r>
              <a:rPr lang="nl-NL" sz="2400" dirty="0" err="1"/>
              <a:t>Propertioneel</a:t>
            </a:r>
            <a:r>
              <a:rPr lang="nl-NL" sz="2400" dirty="0"/>
              <a:t>” aan de fout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3780" y="3064274"/>
            <a:ext cx="29579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2400" dirty="0"/>
              <a:t>Stuuractie(t) = </a:t>
            </a:r>
            <a:r>
              <a:rPr lang="nl-NL" sz="2400" dirty="0" err="1"/>
              <a:t>K</a:t>
            </a:r>
            <a:r>
              <a:rPr lang="nl-NL" sz="2400" baseline="-25000" dirty="0" err="1"/>
              <a:t>p</a:t>
            </a:r>
            <a:r>
              <a:rPr lang="nl-NL" sz="2400" dirty="0"/>
              <a:t> . e(t)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5809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900000">
                                      <p:cBhvr>
                                        <p:cTn id="6" dur="1000" fill="hold"/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900000">
                                      <p:cBhvr>
                                        <p:cTn id="1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 flipH="1">
            <a:off x="7527235" y="3101009"/>
            <a:ext cx="13252" cy="2080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Idee 2</a:t>
            </a:r>
          </a:p>
        </p:txBody>
      </p:sp>
      <p:pic>
        <p:nvPicPr>
          <p:cNvPr id="105474" name="Picture 2" descr="http://www.ussdempsey.com/Ship_Graphics/EVARTS-TOP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003660" y="4943124"/>
            <a:ext cx="2623268" cy="46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Rechte verbindingslijn 6"/>
          <p:cNvCxnSpPr/>
          <p:nvPr/>
        </p:nvCxnSpPr>
        <p:spPr>
          <a:xfrm>
            <a:off x="3361559" y="841207"/>
            <a:ext cx="0" cy="516617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vak 14"/>
          <p:cNvSpPr txBox="1"/>
          <p:nvPr/>
        </p:nvSpPr>
        <p:spPr>
          <a:xfrm>
            <a:off x="4779146" y="531497"/>
            <a:ext cx="302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fout e(t) = setpoint(t)-</a:t>
            </a:r>
            <a:r>
              <a:rPr lang="nl-NL" dirty="0" err="1"/>
              <a:t>actual</a:t>
            </a:r>
            <a:r>
              <a:rPr lang="nl-NL" dirty="0"/>
              <a:t>(t)</a:t>
            </a:r>
          </a:p>
        </p:txBody>
      </p:sp>
      <p:sp>
        <p:nvSpPr>
          <p:cNvPr id="10" name="Tekstvak 14"/>
          <p:cNvSpPr txBox="1"/>
          <p:nvPr/>
        </p:nvSpPr>
        <p:spPr>
          <a:xfrm>
            <a:off x="2927649" y="54597"/>
            <a:ext cx="958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setpoint</a:t>
            </a:r>
          </a:p>
        </p:txBody>
      </p:sp>
      <p:sp>
        <p:nvSpPr>
          <p:cNvPr id="4" name="Oval 3"/>
          <p:cNvSpPr/>
          <p:nvPr/>
        </p:nvSpPr>
        <p:spPr>
          <a:xfrm>
            <a:off x="3329755" y="697558"/>
            <a:ext cx="77288" cy="1436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6668060" y="3851385"/>
            <a:ext cx="1798340" cy="1692555"/>
          </a:xfrm>
          <a:prstGeom prst="rect">
            <a:avLst/>
          </a:prstGeom>
        </p:spPr>
      </p:pic>
      <p:sp>
        <p:nvSpPr>
          <p:cNvPr id="13" name="Tekstvak 15"/>
          <p:cNvSpPr txBox="1"/>
          <p:nvPr/>
        </p:nvSpPr>
        <p:spPr>
          <a:xfrm>
            <a:off x="3694885" y="1612501"/>
            <a:ext cx="840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De opgetelde fout (“</a:t>
            </a:r>
            <a:r>
              <a:rPr lang="nl-NL" sz="2400" dirty="0" err="1"/>
              <a:t>Integral</a:t>
            </a:r>
            <a:r>
              <a:rPr lang="nl-NL" sz="2400" dirty="0"/>
              <a:t>”) van het verleden neem je mee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3780" y="2176026"/>
            <a:ext cx="463633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sz="2400" dirty="0"/>
              <a:t>Stuuractie(t) = </a:t>
            </a:r>
            <a:r>
              <a:rPr lang="nl-NL" sz="2400" dirty="0" err="1"/>
              <a:t>K</a:t>
            </a:r>
            <a:r>
              <a:rPr lang="nl-NL" sz="2400" baseline="-25000" dirty="0" err="1"/>
              <a:t>p</a:t>
            </a:r>
            <a:r>
              <a:rPr lang="nl-NL" sz="2400" dirty="0"/>
              <a:t> . e(t) + K</a:t>
            </a:r>
            <a:r>
              <a:rPr lang="nl-NL" sz="2400" baseline="-25000" dirty="0"/>
              <a:t>i</a:t>
            </a:r>
            <a:r>
              <a:rPr lang="nl-NL" sz="2400" dirty="0"/>
              <a:t> . ∫ e(t).</a:t>
            </a:r>
            <a:r>
              <a:rPr lang="nl-NL" sz="2400" dirty="0" err="1"/>
              <a:t>dt</a:t>
            </a:r>
            <a:endParaRPr lang="nl-NL" sz="2400" dirty="0"/>
          </a:p>
          <a:p>
            <a:r>
              <a:rPr lang="nl-NL" sz="2400" dirty="0"/>
              <a:t> </a:t>
            </a:r>
          </a:p>
        </p:txBody>
      </p:sp>
      <p:cxnSp>
        <p:nvCxnSpPr>
          <p:cNvPr id="20" name="Rechte verbindingslijn met pijl 3"/>
          <p:cNvCxnSpPr/>
          <p:nvPr/>
        </p:nvCxnSpPr>
        <p:spPr>
          <a:xfrm flipH="1">
            <a:off x="3503712" y="4077072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Rechte verbindingslijn met pijl 10"/>
          <p:cNvCxnSpPr/>
          <p:nvPr/>
        </p:nvCxnSpPr>
        <p:spPr>
          <a:xfrm flipH="1">
            <a:off x="3503712" y="3861048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met pijl 11"/>
          <p:cNvCxnSpPr/>
          <p:nvPr/>
        </p:nvCxnSpPr>
        <p:spPr>
          <a:xfrm flipH="1">
            <a:off x="3503712" y="3645024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Rechte verbindingslijn met pijl 12"/>
          <p:cNvCxnSpPr/>
          <p:nvPr/>
        </p:nvCxnSpPr>
        <p:spPr>
          <a:xfrm flipH="1">
            <a:off x="3503712" y="4293096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echte verbindingslijn met pijl 16"/>
          <p:cNvCxnSpPr/>
          <p:nvPr/>
        </p:nvCxnSpPr>
        <p:spPr>
          <a:xfrm flipH="1">
            <a:off x="3503712" y="4509120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met pijl 17"/>
          <p:cNvCxnSpPr/>
          <p:nvPr/>
        </p:nvCxnSpPr>
        <p:spPr>
          <a:xfrm flipH="1">
            <a:off x="3503712" y="4725144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echte verbindingslijn met pijl 18"/>
          <p:cNvCxnSpPr/>
          <p:nvPr/>
        </p:nvCxnSpPr>
        <p:spPr>
          <a:xfrm flipH="1">
            <a:off x="3503712" y="3429000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met pijl 19"/>
          <p:cNvCxnSpPr/>
          <p:nvPr/>
        </p:nvCxnSpPr>
        <p:spPr>
          <a:xfrm flipH="1">
            <a:off x="3503712" y="3212976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echte verbindingslijn met pijl 20"/>
          <p:cNvCxnSpPr/>
          <p:nvPr/>
        </p:nvCxnSpPr>
        <p:spPr>
          <a:xfrm flipH="1">
            <a:off x="3503712" y="2996952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Rechte verbindingslijn met pijl 21"/>
          <p:cNvCxnSpPr/>
          <p:nvPr/>
        </p:nvCxnSpPr>
        <p:spPr>
          <a:xfrm flipH="1">
            <a:off x="3503712" y="2780928"/>
            <a:ext cx="5040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kstvak 4"/>
          <p:cNvSpPr txBox="1"/>
          <p:nvPr/>
        </p:nvSpPr>
        <p:spPr>
          <a:xfrm>
            <a:off x="3713780" y="3450882"/>
            <a:ext cx="65915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accent1">
                    <a:lumMod val="75000"/>
                  </a:schemeClr>
                </a:solidFill>
              </a:rPr>
              <a:t>wind</a:t>
            </a:r>
          </a:p>
        </p:txBody>
      </p:sp>
      <p:sp>
        <p:nvSpPr>
          <p:cNvPr id="31" name="Tekstvak 14"/>
          <p:cNvSpPr txBox="1"/>
          <p:nvPr/>
        </p:nvSpPr>
        <p:spPr>
          <a:xfrm>
            <a:off x="2983891" y="318461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actual</a:t>
            </a:r>
            <a:endParaRPr lang="nl-NL" dirty="0"/>
          </a:p>
        </p:txBody>
      </p:sp>
      <p:sp>
        <p:nvSpPr>
          <p:cNvPr id="32" name="Tekstvak 15"/>
          <p:cNvSpPr txBox="1"/>
          <p:nvPr/>
        </p:nvSpPr>
        <p:spPr>
          <a:xfrm>
            <a:off x="3694885" y="1025299"/>
            <a:ext cx="7529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Een goede schipper kijkt naar fouten in het verleden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712290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 flipH="1">
            <a:off x="7527235" y="3101009"/>
            <a:ext cx="13252" cy="20805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Idee 3</a:t>
            </a:r>
          </a:p>
        </p:txBody>
      </p:sp>
      <p:pic>
        <p:nvPicPr>
          <p:cNvPr id="105474" name="Picture 2" descr="http://www.ussdempsey.com/Ship_Graphics/EVARTS-TOP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000000">
            <a:off x="2003660" y="4943124"/>
            <a:ext cx="2623268" cy="468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Rechte verbindingslijn 6"/>
          <p:cNvCxnSpPr/>
          <p:nvPr/>
        </p:nvCxnSpPr>
        <p:spPr>
          <a:xfrm>
            <a:off x="3361559" y="841207"/>
            <a:ext cx="0" cy="516617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vak 14"/>
          <p:cNvSpPr txBox="1"/>
          <p:nvPr/>
        </p:nvSpPr>
        <p:spPr>
          <a:xfrm>
            <a:off x="4779146" y="531497"/>
            <a:ext cx="3029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fout e(t) = setpoint(t)-</a:t>
            </a:r>
            <a:r>
              <a:rPr lang="nl-NL" dirty="0" err="1"/>
              <a:t>actual</a:t>
            </a:r>
            <a:r>
              <a:rPr lang="nl-NL" dirty="0"/>
              <a:t>(t)</a:t>
            </a:r>
          </a:p>
        </p:txBody>
      </p:sp>
      <p:sp>
        <p:nvSpPr>
          <p:cNvPr id="10" name="Tekstvak 14"/>
          <p:cNvSpPr txBox="1"/>
          <p:nvPr/>
        </p:nvSpPr>
        <p:spPr>
          <a:xfrm>
            <a:off x="2927649" y="54597"/>
            <a:ext cx="958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setpoint</a:t>
            </a:r>
          </a:p>
        </p:txBody>
      </p:sp>
      <p:sp>
        <p:nvSpPr>
          <p:cNvPr id="4" name="Oval 3"/>
          <p:cNvSpPr/>
          <p:nvPr/>
        </p:nvSpPr>
        <p:spPr>
          <a:xfrm>
            <a:off x="3329755" y="697558"/>
            <a:ext cx="77288" cy="1436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0000">
            <a:off x="6668060" y="3851385"/>
            <a:ext cx="1798340" cy="1692555"/>
          </a:xfrm>
          <a:prstGeom prst="rect">
            <a:avLst/>
          </a:prstGeom>
        </p:spPr>
      </p:pic>
      <p:sp>
        <p:nvSpPr>
          <p:cNvPr id="13" name="Tekstvak 15"/>
          <p:cNvSpPr txBox="1"/>
          <p:nvPr/>
        </p:nvSpPr>
        <p:spPr>
          <a:xfrm>
            <a:off x="3694885" y="1612501"/>
            <a:ext cx="840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De verandering van de  fout (“</a:t>
            </a:r>
            <a:r>
              <a:rPr lang="nl-NL" sz="2400" dirty="0" err="1"/>
              <a:t>Derivative</a:t>
            </a:r>
            <a:r>
              <a:rPr lang="nl-NL" sz="2400" dirty="0"/>
              <a:t>”) neem je mee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3713780" y="2176026"/>
                <a:ext cx="5886548" cy="10023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nl-NL" sz="2400" dirty="0"/>
                  <a:t>Stuuractie(t) =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p</a:t>
                </a:r>
                <a:r>
                  <a:rPr lang="nl-NL" sz="2400" dirty="0"/>
                  <a:t> . e(t) + K</a:t>
                </a:r>
                <a:r>
                  <a:rPr lang="nl-NL" sz="2400" baseline="-25000" dirty="0"/>
                  <a:t>i</a:t>
                </a:r>
                <a:r>
                  <a:rPr lang="nl-NL" sz="2400" dirty="0"/>
                  <a:t> . ∫ e(t).</a:t>
                </a:r>
                <a:r>
                  <a:rPr lang="nl-NL" sz="2400" dirty="0" err="1"/>
                  <a:t>dt</a:t>
                </a:r>
                <a:r>
                  <a:rPr lang="nl-NL" sz="2400" dirty="0"/>
                  <a:t> + </a:t>
                </a:r>
                <a:r>
                  <a:rPr lang="nl-NL" sz="2400" dirty="0" err="1"/>
                  <a:t>K</a:t>
                </a:r>
                <a:r>
                  <a:rPr lang="nl-NL" sz="2400" baseline="-25000" dirty="0" err="1"/>
                  <a:t>d</a:t>
                </a:r>
                <a:r>
                  <a:rPr lang="nl-NL" sz="24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4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4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nl-NL" sz="2400" dirty="0"/>
              </a:p>
              <a:p>
                <a:r>
                  <a:rPr lang="nl-NL" sz="2400" dirty="0"/>
                  <a:t> </a:t>
                </a: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780" y="2176026"/>
                <a:ext cx="5886548" cy="1002390"/>
              </a:xfrm>
              <a:prstGeom prst="rect">
                <a:avLst/>
              </a:prstGeom>
              <a:blipFill>
                <a:blip r:embed="rId7"/>
                <a:stretch>
                  <a:fillRect l="-15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kstvak 15"/>
          <p:cNvSpPr txBox="1"/>
          <p:nvPr/>
        </p:nvSpPr>
        <p:spPr>
          <a:xfrm>
            <a:off x="3694885" y="1025299"/>
            <a:ext cx="7529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400" dirty="0"/>
              <a:t>Een goede schipper kijkt naar hoe snel de fout verandert!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93153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decel="6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4200000">
                                      <p:cBhvr>
                                        <p:cTn id="6" dur="5000" fill="hold"/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3000000">
                                      <p:cBhvr>
                                        <p:cTn id="8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1200000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3"/>
              </p:nvPr>
            </p:nvSpPr>
            <p:spPr>
              <a:xfrm>
                <a:off x="6502400" y="506413"/>
                <a:ext cx="5384800" cy="548887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nl-NL" sz="2400" dirty="0" err="1"/>
                  <a:t>Wrap</a:t>
                </a:r>
                <a:r>
                  <a:rPr lang="nl-NL" sz="2400" dirty="0"/>
                  <a:t> up:</a:t>
                </a:r>
              </a:p>
              <a:p>
                <a:r>
                  <a:rPr lang="nl-NL" sz="2400" dirty="0"/>
                  <a:t>Een schipper gebruikt:</a:t>
                </a:r>
              </a:p>
              <a:p>
                <a:pPr lvl="1"/>
                <a:r>
                  <a:rPr lang="nl-NL" sz="2000" dirty="0"/>
                  <a:t>Hoe groter de fout, hoe meer je moet sturen</a:t>
                </a:r>
              </a:p>
              <a:p>
                <a:pPr lvl="1"/>
                <a:r>
                  <a:rPr lang="nl-NL" sz="2000" dirty="0"/>
                  <a:t>Fouten in het verleden neem je mee</a:t>
                </a:r>
              </a:p>
              <a:p>
                <a:pPr lvl="1"/>
                <a:r>
                  <a:rPr lang="nl-NL" sz="2000" dirty="0"/>
                  <a:t>Als de fout snel verandert stuur je bij</a:t>
                </a:r>
              </a:p>
              <a:p>
                <a:r>
                  <a:rPr lang="nl-NL" sz="2400" dirty="0"/>
                  <a:t>Wiskundig:</a:t>
                </a:r>
              </a:p>
              <a:p>
                <a:pPr marL="457200" lvl="1" indent="0">
                  <a:buNone/>
                </a:pPr>
                <a:r>
                  <a:rPr lang="nl-NL" sz="2000" dirty="0"/>
                  <a:t>Stuuractie(t) = </a:t>
                </a:r>
                <a:r>
                  <a:rPr lang="nl-NL" sz="2000" dirty="0" err="1"/>
                  <a:t>K</a:t>
                </a:r>
                <a:r>
                  <a:rPr lang="nl-NL" sz="2000" baseline="-25000" dirty="0" err="1"/>
                  <a:t>p</a:t>
                </a:r>
                <a:r>
                  <a:rPr lang="nl-NL" sz="2000" dirty="0"/>
                  <a:t> . e(t) + K</a:t>
                </a:r>
                <a:r>
                  <a:rPr lang="nl-NL" sz="2000" baseline="-25000" dirty="0"/>
                  <a:t>i</a:t>
                </a:r>
                <a:r>
                  <a:rPr lang="nl-NL" sz="2000" dirty="0"/>
                  <a:t> . ∫ e(t).</a:t>
                </a:r>
                <a:r>
                  <a:rPr lang="nl-NL" sz="2000" dirty="0" err="1"/>
                  <a:t>dt</a:t>
                </a:r>
                <a:r>
                  <a:rPr lang="nl-NL" sz="2000" dirty="0"/>
                  <a:t> + </a:t>
                </a:r>
                <a:r>
                  <a:rPr lang="nl-NL" sz="2000" dirty="0" err="1"/>
                  <a:t>K</a:t>
                </a:r>
                <a:r>
                  <a:rPr lang="nl-NL" sz="2000" baseline="-25000" dirty="0" err="1"/>
                  <a:t>d</a:t>
                </a:r>
                <a:r>
                  <a:rPr lang="nl-NL" sz="2000" dirty="0"/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20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nl-NL" sz="20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nl-NL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nl-NL" sz="2000" dirty="0"/>
              </a:p>
              <a:p>
                <a:endParaRPr lang="nl-NL" sz="2400" dirty="0"/>
              </a:p>
              <a:p>
                <a:r>
                  <a:rPr lang="nl-NL" sz="2400" dirty="0"/>
                  <a:t>Maar….</a:t>
                </a:r>
              </a:p>
              <a:p>
                <a:pPr lvl="1"/>
                <a:r>
                  <a:rPr lang="nl-NL" sz="2000" dirty="0"/>
                  <a:t>Hoe kun je dit nu berekenen?</a:t>
                </a:r>
              </a:p>
              <a:p>
                <a:pPr lvl="1"/>
                <a:r>
                  <a:rPr lang="nl-NL" sz="2000" dirty="0"/>
                  <a:t>Hoe kun je dit programmeren?</a:t>
                </a:r>
              </a:p>
              <a:p>
                <a:pPr lvl="1"/>
                <a:r>
                  <a:rPr lang="nl-NL" sz="2000" dirty="0"/>
                  <a:t>Hoe kies je de K-factoren?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>
              <a:xfrm>
                <a:off x="6502400" y="506413"/>
                <a:ext cx="5384800" cy="5488870"/>
              </a:xfrm>
              <a:blipFill>
                <a:blip r:embed="rId5"/>
                <a:stretch>
                  <a:fillRect l="-1812" t="-1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https://upload.wikimedia.org/wikipedia/commons/thumb/1/16/Pneumatische_regelaar.jpg/640px-Pneumatische_regelaar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382656"/>
            <a:ext cx="6096000" cy="628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059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1|10.7|8.8|20.9|10.6|3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6|24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7.6|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6|3.5|30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6|22.4|23.9|20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6|2|4.2|3.9|4.3|5.8|1.9|4.6|0.9|9|6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322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PID – de ideeën</vt:lpstr>
      <vt:lpstr>Schepen op koers houden</vt:lpstr>
      <vt:lpstr>Schip</vt:lpstr>
      <vt:lpstr>Idee 1</vt:lpstr>
      <vt:lpstr>Idee 1</vt:lpstr>
      <vt:lpstr>Idee 2</vt:lpstr>
      <vt:lpstr>Idee 3</vt:lpstr>
      <vt:lpstr>PowerPoint Presentation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PID – de ideeën</dc:title>
  <dc:creator>Bart Bozon</dc:creator>
  <cp:lastModifiedBy>Bart Bozon</cp:lastModifiedBy>
  <cp:revision>10</cp:revision>
  <dcterms:created xsi:type="dcterms:W3CDTF">2020-04-27T09:57:37Z</dcterms:created>
  <dcterms:modified xsi:type="dcterms:W3CDTF">2026-03-04T07:32:14Z</dcterms:modified>
</cp:coreProperties>
</file>