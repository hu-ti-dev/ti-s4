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6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576" autoAdjust="0"/>
  </p:normalViewPr>
  <p:slideViewPr>
    <p:cSldViewPr snapToGrid="0">
      <p:cViewPr varScale="1">
        <p:scale>
          <a:sx n="76" d="100"/>
          <a:sy n="76" d="100"/>
        </p:scale>
        <p:origin x="10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9B8DD-F05C-4133-81F3-CE98D68D6DE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197B3-E6E8-42E5-B648-4F7106451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08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Edges: </a:t>
            </a:r>
            <a:r>
              <a:rPr lang="en-US" dirty="0" err="1"/>
              <a:t>verbindingen</a:t>
            </a:r>
            <a:br>
              <a:rPr lang="en-US" dirty="0"/>
            </a:br>
            <a:r>
              <a:rPr lang="en-US" dirty="0"/>
              <a:t>Vertices: nodes</a:t>
            </a:r>
          </a:p>
          <a:p>
            <a:endParaRPr lang="en-US" dirty="0"/>
          </a:p>
          <a:p>
            <a:r>
              <a:rPr lang="en-US" dirty="0"/>
              <a:t>Directed: </a:t>
            </a:r>
            <a:r>
              <a:rPr lang="en-US" dirty="0" err="1"/>
              <a:t>eenrichtingsverkeer</a:t>
            </a:r>
            <a:r>
              <a:rPr lang="en-US" dirty="0"/>
              <a:t>,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twee </a:t>
            </a:r>
            <a:r>
              <a:rPr lang="en-US" dirty="0" err="1"/>
              <a:t>pijlen</a:t>
            </a:r>
            <a:r>
              <a:rPr lang="en-US" dirty="0"/>
              <a:t> </a:t>
            </a:r>
            <a:r>
              <a:rPr lang="en-US" dirty="0" err="1"/>
              <a:t>beide</a:t>
            </a:r>
            <a:r>
              <a:rPr lang="en-US" dirty="0"/>
              <a:t> </a:t>
            </a:r>
            <a:r>
              <a:rPr lang="en-US" dirty="0" err="1"/>
              <a:t>richtingen</a:t>
            </a:r>
            <a:r>
              <a:rPr lang="en-US" dirty="0"/>
              <a:t> op </a:t>
            </a:r>
            <a:r>
              <a:rPr lang="en-US" dirty="0" err="1"/>
              <a:t>hebben</a:t>
            </a:r>
            <a:br>
              <a:rPr lang="en-US" dirty="0"/>
            </a:br>
            <a:r>
              <a:rPr lang="en-US" dirty="0"/>
              <a:t>Undirected: </a:t>
            </a:r>
            <a:r>
              <a:rPr lang="en-US" dirty="0" err="1"/>
              <a:t>bidirectioneel</a:t>
            </a:r>
            <a:br>
              <a:rPr lang="en-US" dirty="0"/>
            </a:br>
            <a:r>
              <a:rPr lang="en-US" dirty="0"/>
              <a:t>Weighted: </a:t>
            </a:r>
            <a:r>
              <a:rPr lang="en-US" dirty="0" err="1"/>
              <a:t>Zowel</a:t>
            </a:r>
            <a:r>
              <a:rPr lang="en-US" dirty="0"/>
              <a:t> directed </a:t>
            </a:r>
            <a:r>
              <a:rPr lang="en-US" dirty="0" err="1"/>
              <a:t>als</a:t>
            </a:r>
            <a:r>
              <a:rPr lang="en-US" dirty="0"/>
              <a:t> undirected graphs </a:t>
            </a:r>
            <a:r>
              <a:rPr lang="en-US" dirty="0" err="1"/>
              <a:t>kunnen</a:t>
            </a:r>
            <a:r>
              <a:rPr lang="en-US" dirty="0"/>
              <a:t> weighted </a:t>
            </a:r>
            <a:r>
              <a:rPr lang="en-US" dirty="0" err="1"/>
              <a:t>zijn</a:t>
            </a:r>
            <a:r>
              <a:rPr lang="en-US" dirty="0"/>
              <a:t>, cost </a:t>
            </a:r>
            <a:r>
              <a:rPr lang="en-US" dirty="0" err="1"/>
              <a:t>voor</a:t>
            </a:r>
            <a:r>
              <a:rPr lang="en-US" dirty="0"/>
              <a:t> traversal. Bij directed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richting</a:t>
            </a:r>
            <a:r>
              <a:rPr lang="en-US" dirty="0"/>
              <a:t>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kosten</a:t>
            </a:r>
            <a:r>
              <a:rPr lang="en-US" dirty="0"/>
              <a:t> dan </a:t>
            </a:r>
            <a:r>
              <a:rPr lang="en-US" dirty="0" err="1"/>
              <a:t>terug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Soms </a:t>
            </a:r>
            <a:r>
              <a:rPr lang="en-US" dirty="0" err="1"/>
              <a:t>ook</a:t>
            </a:r>
            <a:r>
              <a:rPr lang="en-US" dirty="0"/>
              <a:t> loops – </a:t>
            </a:r>
            <a:r>
              <a:rPr lang="en-US" dirty="0" err="1"/>
              <a:t>verbindingen</a:t>
            </a:r>
            <a:r>
              <a:rPr lang="en-US" dirty="0"/>
              <a:t> van node a </a:t>
            </a:r>
            <a:r>
              <a:rPr lang="en-US" dirty="0" err="1"/>
              <a:t>naar</a:t>
            </a:r>
            <a:r>
              <a:rPr lang="en-US" dirty="0"/>
              <a:t> node 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Adjacency list </a:t>
            </a:r>
            <a:r>
              <a:rPr lang="en-US" dirty="0" err="1"/>
              <a:t>voor</a:t>
            </a:r>
            <a:r>
              <a:rPr lang="en-US" dirty="0"/>
              <a:t> sparse graphs om </a:t>
            </a:r>
            <a:r>
              <a:rPr lang="en-US" dirty="0" err="1"/>
              <a:t>geheugen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besparen</a:t>
            </a:r>
            <a:r>
              <a:rPr lang="en-US" dirty="0"/>
              <a:t>, efficient </a:t>
            </a:r>
            <a:r>
              <a:rPr lang="en-US" dirty="0" err="1"/>
              <a:t>itereren</a:t>
            </a:r>
            <a:r>
              <a:rPr lang="en-US" dirty="0"/>
              <a:t> over </a:t>
            </a:r>
            <a:r>
              <a:rPr lang="en-US" dirty="0" err="1"/>
              <a:t>neighbours</a:t>
            </a:r>
            <a:br>
              <a:rPr lang="en-US" dirty="0"/>
            </a:br>
            <a:r>
              <a:rPr lang="en-US" dirty="0"/>
              <a:t>Adjacency matrix </a:t>
            </a:r>
            <a:r>
              <a:rPr lang="en-US" dirty="0" err="1"/>
              <a:t>voor</a:t>
            </a:r>
            <a:r>
              <a:rPr lang="en-US" dirty="0"/>
              <a:t> dense graphs, lookup van </a:t>
            </a:r>
            <a:r>
              <a:rPr lang="en-US" dirty="0" err="1"/>
              <a:t>een</a:t>
            </a:r>
            <a:r>
              <a:rPr lang="en-US" dirty="0"/>
              <a:t> edge is O(1)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197B3-E6E8-42E5-B648-4F71064518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82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Teken op het bord;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een</a:t>
            </a:r>
            <a:r>
              <a:rPr lang="en-US" dirty="0"/>
              <a:t> grid </a:t>
            </a:r>
            <a:r>
              <a:rPr lang="en-US" dirty="0" err="1"/>
              <a:t>waarin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dirty="0" err="1"/>
              <a:t>axiatisch</a:t>
            </a:r>
            <a:r>
              <a:rPr lang="en-US" dirty="0"/>
              <a:t> </a:t>
            </a:r>
            <a:r>
              <a:rPr lang="en-US" dirty="0" err="1"/>
              <a:t>bewogen</a:t>
            </a:r>
            <a:r>
              <a:rPr lang="en-US" dirty="0"/>
              <a:t> mag </a:t>
            </a:r>
            <a:r>
              <a:rPr lang="en-US" dirty="0" err="1"/>
              <a:t>worden</a:t>
            </a:r>
            <a:r>
              <a:rPr lang="en-US" dirty="0"/>
              <a:t>; begin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eind</a:t>
            </a:r>
            <a:r>
              <a:rPr lang="en-US" dirty="0"/>
              <a:t> </a:t>
            </a:r>
            <a:r>
              <a:rPr lang="en-US" dirty="0" err="1"/>
              <a:t>zitten</a:t>
            </a:r>
            <a:r>
              <a:rPr lang="en-US" dirty="0"/>
              <a:t> </a:t>
            </a:r>
            <a:r>
              <a:rPr lang="en-US" dirty="0" err="1"/>
              <a:t>naast</a:t>
            </a:r>
            <a:r>
              <a:rPr lang="en-US" dirty="0"/>
              <a:t> </a:t>
            </a:r>
            <a:r>
              <a:rPr lang="en-US" dirty="0" err="1"/>
              <a:t>elkaar</a:t>
            </a:r>
            <a:r>
              <a:rPr lang="en-US" dirty="0"/>
              <a:t> </a:t>
            </a:r>
            <a:r>
              <a:rPr lang="en-US" dirty="0" err="1"/>
              <a:t>meteen</a:t>
            </a:r>
            <a:r>
              <a:rPr lang="en-US" dirty="0"/>
              <a:t> </a:t>
            </a:r>
            <a:r>
              <a:rPr lang="en-US" dirty="0" err="1"/>
              <a:t>obstakel</a:t>
            </a:r>
            <a:r>
              <a:rPr lang="en-US" dirty="0"/>
              <a:t> in het midden, wat is het </a:t>
            </a:r>
            <a:r>
              <a:rPr lang="en-US" dirty="0" err="1"/>
              <a:t>verschil</a:t>
            </a:r>
            <a:r>
              <a:rPr lang="en-US" dirty="0"/>
              <a:t>?</a:t>
            </a:r>
          </a:p>
          <a:p>
            <a:r>
              <a:rPr lang="en-US" dirty="0"/>
              <a:t>	</a:t>
            </a:r>
            <a:r>
              <a:rPr lang="en-US" dirty="0" err="1"/>
              <a:t>een</a:t>
            </a:r>
            <a:r>
              <a:rPr lang="en-US" dirty="0"/>
              <a:t> grid </a:t>
            </a:r>
            <a:r>
              <a:rPr lang="en-US" dirty="0" err="1"/>
              <a:t>waarin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dirty="0" err="1"/>
              <a:t>axiastisch</a:t>
            </a:r>
            <a:r>
              <a:rPr lang="en-US" dirty="0"/>
              <a:t> </a:t>
            </a:r>
            <a:r>
              <a:rPr lang="en-US" dirty="0" err="1"/>
              <a:t>bewogen</a:t>
            </a:r>
            <a:r>
              <a:rPr lang="en-US" dirty="0"/>
              <a:t> mag </a:t>
            </a:r>
            <a:r>
              <a:rPr lang="en-US" dirty="0" err="1"/>
              <a:t>worden</a:t>
            </a:r>
            <a:r>
              <a:rPr lang="en-US" dirty="0"/>
              <a:t>; begin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eind</a:t>
            </a:r>
            <a:r>
              <a:rPr lang="en-US" dirty="0"/>
              <a:t> </a:t>
            </a:r>
            <a:r>
              <a:rPr lang="en-US" dirty="0" err="1"/>
              <a:t>zitten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van </a:t>
            </a:r>
            <a:r>
              <a:rPr lang="en-US" dirty="0" err="1"/>
              <a:t>elkaar</a:t>
            </a:r>
            <a:r>
              <a:rPr lang="en-US" dirty="0"/>
              <a:t>,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obstakels</a:t>
            </a:r>
            <a:r>
              <a:rPr lang="en-US" dirty="0"/>
              <a:t>, wat is het </a:t>
            </a:r>
            <a:r>
              <a:rPr lang="en-US" dirty="0" err="1"/>
              <a:t>verschil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197B3-E6E8-42E5-B648-4F71064518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58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= BFS, DFS, UCS (Dijkstra)</a:t>
            </a:r>
            <a:br>
              <a:rPr lang="en-US" dirty="0"/>
            </a:br>
            <a:r>
              <a:rPr lang="en-US" dirty="0"/>
              <a:t>Informed = Greedy Best-First Search, A*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Met </a:t>
            </a:r>
            <a:r>
              <a:rPr lang="en-US" dirty="0" err="1"/>
              <a:t>goede</a:t>
            </a:r>
            <a:r>
              <a:rPr lang="en-US" dirty="0"/>
              <a:t> </a:t>
            </a:r>
            <a:r>
              <a:rPr lang="en-US" dirty="0" err="1"/>
              <a:t>heuristiek</a:t>
            </a:r>
            <a:r>
              <a:rPr lang="en-US" dirty="0"/>
              <a:t> is informed </a:t>
            </a:r>
            <a:r>
              <a:rPr lang="en-US" dirty="0" err="1"/>
              <a:t>meestal</a:t>
            </a:r>
            <a:r>
              <a:rPr lang="en-US" dirty="0"/>
              <a:t> </a:t>
            </a:r>
            <a:r>
              <a:rPr lang="en-US" dirty="0" err="1"/>
              <a:t>sneller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enkel</a:t>
            </a:r>
            <a:r>
              <a:rPr lang="en-US" dirty="0"/>
              <a:t> </a:t>
            </a:r>
            <a:r>
              <a:rPr lang="en-US" dirty="0" err="1"/>
              <a:t>doel</a:t>
            </a:r>
            <a:r>
              <a:rPr lang="en-US" dirty="0"/>
              <a:t>, maar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meerdere</a:t>
            </a:r>
            <a:r>
              <a:rPr lang="en-US" dirty="0"/>
              <a:t> </a:t>
            </a:r>
            <a:r>
              <a:rPr lang="en-US" dirty="0" err="1"/>
              <a:t>doelen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uninformed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voordelen</a:t>
            </a:r>
            <a:r>
              <a:rPr lang="en-US" dirty="0"/>
              <a:t> </a:t>
            </a:r>
            <a:r>
              <a:rPr lang="en-US" dirty="0" err="1"/>
              <a:t>bieden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Completeness – </a:t>
            </a:r>
            <a:r>
              <a:rPr lang="en-US" dirty="0" err="1"/>
              <a:t>vindt</a:t>
            </a:r>
            <a:r>
              <a:rPr lang="en-US" dirty="0"/>
              <a:t> het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die </a:t>
            </a:r>
            <a:r>
              <a:rPr lang="en-US" dirty="0" err="1"/>
              <a:t>bestaat</a:t>
            </a:r>
            <a:r>
              <a:rPr lang="en-US" dirty="0"/>
              <a:t>? Dit is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algoritmen</a:t>
            </a:r>
            <a:r>
              <a:rPr lang="en-US" dirty="0"/>
              <a:t> die </a:t>
            </a:r>
            <a:r>
              <a:rPr lang="en-US" dirty="0" err="1"/>
              <a:t>sterk</a:t>
            </a:r>
            <a:r>
              <a:rPr lang="en-US" dirty="0"/>
              <a:t> op </a:t>
            </a:r>
            <a:r>
              <a:rPr lang="en-US" dirty="0" err="1"/>
              <a:t>heuristiek</a:t>
            </a:r>
            <a:r>
              <a:rPr lang="en-US" dirty="0"/>
              <a:t> </a:t>
            </a:r>
            <a:r>
              <a:rPr lang="en-US" dirty="0" err="1"/>
              <a:t>leunen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waar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Optimality – </a:t>
            </a:r>
            <a:r>
              <a:rPr lang="en-US" dirty="0" err="1"/>
              <a:t>vindt</a:t>
            </a:r>
            <a:r>
              <a:rPr lang="en-US" dirty="0"/>
              <a:t> het </a:t>
            </a:r>
            <a:r>
              <a:rPr lang="en-US" dirty="0" err="1"/>
              <a:t>het</a:t>
            </a:r>
            <a:r>
              <a:rPr lang="en-US" dirty="0"/>
              <a:t> </a:t>
            </a:r>
            <a:r>
              <a:rPr lang="en-US" dirty="0" err="1"/>
              <a:t>beste</a:t>
            </a:r>
            <a:r>
              <a:rPr lang="en-US" dirty="0"/>
              <a:t> pad?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Complexity - Dijkstra </a:t>
            </a:r>
            <a:r>
              <a:rPr lang="en-US" dirty="0" err="1"/>
              <a:t>vindt</a:t>
            </a:r>
            <a:r>
              <a:rPr lang="en-US" dirty="0"/>
              <a:t> </a:t>
            </a:r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gegarandeerd</a:t>
            </a:r>
            <a:r>
              <a:rPr lang="en-US" dirty="0"/>
              <a:t> het </a:t>
            </a:r>
            <a:r>
              <a:rPr lang="en-US" dirty="0" err="1"/>
              <a:t>beste</a:t>
            </a:r>
            <a:r>
              <a:rPr lang="en-US" dirty="0"/>
              <a:t> pad, maar A* </a:t>
            </a:r>
            <a:r>
              <a:rPr lang="en-US" dirty="0" err="1"/>
              <a:t>niet</a:t>
            </a:r>
            <a:r>
              <a:rPr lang="en-US" dirty="0"/>
              <a:t>. A*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sneller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– </a:t>
            </a:r>
            <a:r>
              <a:rPr lang="en-US" dirty="0" err="1"/>
              <a:t>afweging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best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goed</a:t>
            </a:r>
            <a:r>
              <a:rPr lang="en-US" dirty="0"/>
              <a:t> </a:t>
            </a:r>
            <a:r>
              <a:rPr lang="en-US" dirty="0" err="1"/>
              <a:t>genoeg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197B3-E6E8-42E5-B648-4F71064518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84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Één</a:t>
            </a:r>
            <a:r>
              <a:rPr lang="en-US" dirty="0"/>
              <a:t>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kortste</a:t>
            </a:r>
            <a:r>
              <a:rPr lang="en-US" dirty="0"/>
              <a:t> pad </a:t>
            </a:r>
            <a:r>
              <a:rPr lang="en-US" dirty="0" err="1"/>
              <a:t>probleem</a:t>
            </a:r>
            <a:r>
              <a:rPr lang="en-US" dirty="0"/>
              <a:t> -&gt; single source met non-zero edge weights (Bellman-Ford met negative edge weights, A* </a:t>
            </a:r>
            <a:r>
              <a:rPr lang="en-US" dirty="0" err="1"/>
              <a:t>voor</a:t>
            </a:r>
            <a:r>
              <a:rPr lang="en-US" dirty="0"/>
              <a:t> single-pair, </a:t>
            </a:r>
            <a:r>
              <a:rPr lang="en-US" dirty="0" err="1"/>
              <a:t>en</a:t>
            </a:r>
            <a:r>
              <a:rPr lang="en-US" dirty="0"/>
              <a:t> zo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meer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ALGOL 60 </a:t>
            </a:r>
            <a:r>
              <a:rPr lang="en-US" dirty="0" err="1"/>
              <a:t>eerste</a:t>
            </a:r>
            <a:r>
              <a:rPr lang="en-US" dirty="0"/>
              <a:t> taal met </a:t>
            </a:r>
            <a:r>
              <a:rPr lang="en-US" dirty="0" err="1"/>
              <a:t>functies</a:t>
            </a:r>
            <a:r>
              <a:rPr lang="en-US" dirty="0"/>
              <a:t>, </a:t>
            </a:r>
            <a:r>
              <a:rPr lang="en-US" dirty="0" err="1"/>
              <a:t>waar</a:t>
            </a:r>
            <a:r>
              <a:rPr lang="en-US" dirty="0"/>
              <a:t> C </a:t>
            </a:r>
            <a:r>
              <a:rPr lang="en-US" dirty="0" err="1"/>
              <a:t>weer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voortgekomen</a:t>
            </a:r>
            <a:r>
              <a:rPr lang="en-US" dirty="0"/>
              <a:t>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197B3-E6E8-42E5-B648-4F71064518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3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8B16-37E9-FC99-6806-D5C23456E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F1B2C-3268-BD97-5E77-A30A67695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B7F24-A7F0-73FC-BD55-6870E541D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F6552-2FDB-735E-3919-5E0C081A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142E-3E58-F64A-C71F-9C6E2795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6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ADCC-08F9-00D9-9B25-48D67685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80A6-7FC0-3D18-B493-7205AE62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6ADAB-EE49-F878-E0F3-3C60144D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3861B-ED9E-BB07-1A33-31463685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938A-CF48-8771-2B1F-94C4DB1A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5756-0F26-F10D-5607-96695AB3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56CFA-9FAC-62ED-1C88-6C61ADF11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BB0C5-721C-6801-852F-830C9EA9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D8CA5-CD5F-E25B-F1FA-83C20897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DAC04-AEAC-39C5-52A1-B4C27AEF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0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4A57-9C2E-6FE2-19FB-97E02A5D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8FFEB-9B47-3FD4-8C32-80908D6EB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B3D7F-FFF6-3BDD-1B9A-EE3BB9694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6CFA-7139-F72D-89DB-D9F157A9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BB3B-4725-1E39-7930-718D9E0E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F9C76-2817-DF60-79B6-FD58D612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59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FA0D-CBAA-3A74-EF38-6D13C71EB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0BAF3-A541-10A7-A9E6-6A1758219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4C572-91F7-1216-4670-EA3A4C7E6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B2206C-E36E-B5F7-EBFE-BF47D40F8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E2EDC-60C2-11E0-75E7-4106CC1C8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A50D8-D354-3527-0DF0-83EADFCF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8C9689-874C-A998-CB44-9F05098E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EC6D6-E6D9-20CF-EFE4-01EAFE61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32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4D39E-1AB2-749F-B886-DB54C8F5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3DCD6-E86C-0F09-2524-F7103DA24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CFFE1-99D0-FC29-0556-0B6CF5AE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99724-87E5-368F-77EC-0455959A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5DDDA-3BA6-3398-8575-01A38DC4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26BF9-1D21-ED71-D6A1-E7EC9DBB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10EC-25B6-34AB-3413-48D30A5C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0635-723A-2759-D49C-84B3D90A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A0BDC-101F-9143-BA1C-E1A52EC8E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6C50-63B9-4C31-970A-5BA4CA66C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7626D-1636-E5D6-DD02-A02F616C6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28333-CB2F-3827-C569-0809CD8B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F888D-F3C2-64C7-4918-F3C64AA7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9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DB17-544A-6638-32B1-2EF0E0E2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3692A-2B3F-104C-12FB-E7D541B49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65D6F-1263-FC5E-0865-8E49286F3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E4536-02CE-AC39-A3A4-47ADD04D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33916-5364-49F0-F2A6-8BD8FC6E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A4A8-7806-2234-807E-7171189A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2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EFE0-0B7A-6E55-6639-4C08371A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9E82C-C4EC-F45B-75FC-B756CFC4F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8DB6-A7D4-6239-ED9F-591BB883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4881-6507-54B0-E674-1818E1A2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B3CC-FA9D-5085-1812-F3858390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0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44558B-2FAB-5AB2-D6A9-2F02874B0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C74C0-57F5-F906-0D5B-7669DB563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CA13C-A26B-22F0-7819-51464EC9C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16E8C-3EA4-9AB0-5A27-3EFC38BB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A9161-9412-ED0C-68E7-81E1CF0B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0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744FB-84AE-DD1F-1B71-E5E503C4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004A9-CA36-6AAC-ED5B-2D86C5D38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384F5-D655-82DF-255C-5828905AC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08016-78E9-4A4B-80C7-AF744CC7F71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94388-35A2-8C09-C53C-CF912DB6B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2E090-2006-B38F-8D56-D2715529B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0E447-6271-4685-B7FE-67722B63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52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7FA1-6BA4-E879-0FB4-70B65340C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Graphs &amp;</a:t>
            </a:r>
            <a:br>
              <a:rPr lang="en-US" dirty="0"/>
            </a:br>
            <a:r>
              <a:rPr lang="en-US" dirty="0"/>
              <a:t>Pathfinding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F4B49-85ED-68B0-5E23-AFFF74DE3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ALDS-4</a:t>
            </a:r>
            <a:br>
              <a:rPr lang="en-US" dirty="0"/>
            </a:br>
            <a:r>
              <a:rPr lang="en-US" dirty="0"/>
              <a:t>S4</a:t>
            </a:r>
            <a:br>
              <a:rPr lang="en-US" dirty="0"/>
            </a:br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599405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6E9D-7215-35F8-FD90-3E0CFF8F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ED7B-8366-949C-F087-15232E335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Herhaling</a:t>
            </a:r>
            <a:r>
              <a:rPr lang="en-US" dirty="0"/>
              <a:t> Graphs</a:t>
            </a:r>
          </a:p>
          <a:p>
            <a:r>
              <a:rPr lang="en-US" dirty="0" err="1"/>
              <a:t>Herhaling</a:t>
            </a:r>
            <a:r>
              <a:rPr lang="en-US" dirty="0"/>
              <a:t> DFS, BFS</a:t>
            </a:r>
          </a:p>
          <a:p>
            <a:r>
              <a:rPr lang="en-US" dirty="0"/>
              <a:t>Pathfinding </a:t>
            </a:r>
            <a:r>
              <a:rPr lang="en-US" dirty="0" err="1"/>
              <a:t>begrippen</a:t>
            </a:r>
            <a:endParaRPr lang="en-US" dirty="0"/>
          </a:p>
          <a:p>
            <a:r>
              <a:rPr lang="en-US" dirty="0"/>
              <a:t>Dijkstra</a:t>
            </a:r>
          </a:p>
          <a:p>
            <a:r>
              <a:rPr lang="en-US" dirty="0"/>
              <a:t>A*</a:t>
            </a:r>
          </a:p>
          <a:p>
            <a:r>
              <a:rPr lang="en-US" dirty="0"/>
              <a:t>En </a:t>
            </a:r>
            <a:r>
              <a:rPr lang="en-US" dirty="0" err="1"/>
              <a:t>verder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4832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3103-A9F2-B1A5-EE07-FA020DE1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Herhaling</a:t>
            </a:r>
            <a:r>
              <a:rPr lang="en-US" dirty="0"/>
              <a:t>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B2A78-B6D9-CF0D-F50E-E0B329BE4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 </a:t>
            </a:r>
            <a:r>
              <a:rPr lang="en-US" dirty="0" err="1"/>
              <a:t>bestaan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Edges </a:t>
            </a:r>
            <a:r>
              <a:rPr lang="en-US" dirty="0" err="1"/>
              <a:t>en</a:t>
            </a:r>
            <a:r>
              <a:rPr lang="en-US" dirty="0"/>
              <a:t> Vertices </a:t>
            </a:r>
          </a:p>
          <a:p>
            <a:r>
              <a:rPr lang="en-US" dirty="0"/>
              <a:t>Graphs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Directed</a:t>
            </a:r>
          </a:p>
          <a:p>
            <a:pPr lvl="1"/>
            <a:r>
              <a:rPr lang="en-US" dirty="0"/>
              <a:t>Undirected</a:t>
            </a:r>
          </a:p>
          <a:p>
            <a:pPr lvl="1"/>
            <a:r>
              <a:rPr lang="en-US" dirty="0"/>
              <a:t>Weighted</a:t>
            </a:r>
          </a:p>
          <a:p>
            <a:r>
              <a:rPr lang="en-US" dirty="0" err="1"/>
              <a:t>Weergave</a:t>
            </a:r>
            <a:r>
              <a:rPr lang="en-US" dirty="0"/>
              <a:t> door adjacency list of adjacency matrix</a:t>
            </a:r>
          </a:p>
          <a:p>
            <a:pPr lvl="1"/>
            <a:r>
              <a:rPr lang="en-US" dirty="0"/>
              <a:t>Sparse vs dense</a:t>
            </a:r>
          </a:p>
        </p:txBody>
      </p:sp>
      <p:pic>
        <p:nvPicPr>
          <p:cNvPr id="1026" name="Picture 2" descr="Pathfinding Algorithms. Please read me | by Chet Chopra | The Startup |  Medium">
            <a:extLst>
              <a:ext uri="{FF2B5EF4-FFF2-40B4-BE49-F238E27FC236}">
                <a16:creationId xmlns:a16="http://schemas.microsoft.com/office/drawing/2014/main" id="{55502752-4F71-449D-0429-A752BB749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218" y="4502988"/>
            <a:ext cx="4038472" cy="220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80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9CB5-429D-160F-64A8-0E9C5554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Herhaling</a:t>
            </a:r>
            <a:r>
              <a:rPr lang="en-US" dirty="0"/>
              <a:t> DFS, BFS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95F7C-4A13-2BCF-D0AB-C0C0B8D18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Naïeve</a:t>
            </a:r>
            <a:r>
              <a:rPr lang="en-US" dirty="0"/>
              <a:t> </a:t>
            </a:r>
            <a:r>
              <a:rPr lang="en-US" dirty="0" err="1"/>
              <a:t>zoekmethoden</a:t>
            </a:r>
            <a:endParaRPr lang="en-US" dirty="0"/>
          </a:p>
          <a:p>
            <a:endParaRPr lang="en-US" dirty="0"/>
          </a:p>
          <a:p>
            <a:r>
              <a:rPr lang="en-US" dirty="0"/>
              <a:t>Depth-first search</a:t>
            </a:r>
          </a:p>
          <a:p>
            <a:pPr lvl="1"/>
            <a:r>
              <a:rPr lang="en-US" dirty="0"/>
              <a:t>Kiest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doorzoekt</a:t>
            </a:r>
            <a:r>
              <a:rPr lang="en-US" dirty="0"/>
              <a:t> zo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mogelijk</a:t>
            </a:r>
            <a:r>
              <a:rPr lang="en-US" dirty="0"/>
              <a:t>, </a:t>
            </a:r>
            <a:r>
              <a:rPr lang="en-US" dirty="0" err="1"/>
              <a:t>terugval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knooppunten</a:t>
            </a:r>
            <a:endParaRPr lang="en-US" dirty="0"/>
          </a:p>
          <a:p>
            <a:pPr lvl="1"/>
            <a:r>
              <a:rPr lang="en-US" dirty="0" err="1"/>
              <a:t>Belangrijk</a:t>
            </a:r>
            <a:r>
              <a:rPr lang="en-US" dirty="0"/>
              <a:t>: </a:t>
            </a:r>
            <a:r>
              <a:rPr lang="en-US" dirty="0" err="1"/>
              <a:t>zal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eerder</a:t>
            </a:r>
            <a:r>
              <a:rPr lang="en-US" dirty="0"/>
              <a:t> </a:t>
            </a:r>
            <a:r>
              <a:rPr lang="en-US" dirty="0" err="1"/>
              <a:t>bezochte</a:t>
            </a:r>
            <a:r>
              <a:rPr lang="en-US" dirty="0"/>
              <a:t> node nooit </a:t>
            </a:r>
            <a:r>
              <a:rPr lang="en-US" dirty="0" err="1"/>
              <a:t>opnieuw</a:t>
            </a:r>
            <a:r>
              <a:rPr lang="en-US" dirty="0"/>
              <a:t> </a:t>
            </a:r>
            <a:r>
              <a:rPr lang="en-US" dirty="0" err="1"/>
              <a:t>bezoeken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Breadth-first search</a:t>
            </a:r>
          </a:p>
          <a:p>
            <a:pPr lvl="1"/>
            <a:r>
              <a:rPr lang="en-US" dirty="0"/>
              <a:t>‘Expansive’ search</a:t>
            </a:r>
          </a:p>
          <a:p>
            <a:pPr lvl="1"/>
            <a:r>
              <a:rPr lang="en-US" dirty="0" err="1"/>
              <a:t>Kijkt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</a:t>
            </a:r>
            <a:r>
              <a:rPr lang="en-US" dirty="0" err="1"/>
              <a:t>verbonden</a:t>
            </a:r>
            <a:r>
              <a:rPr lang="en-US" dirty="0"/>
              <a:t> node of het de </a:t>
            </a:r>
            <a:r>
              <a:rPr lang="en-US" dirty="0" err="1"/>
              <a:t>eind</a:t>
            </a:r>
            <a:r>
              <a:rPr lang="en-US" dirty="0"/>
              <a:t> node is</a:t>
            </a:r>
          </a:p>
          <a:p>
            <a:pPr lvl="1"/>
            <a:r>
              <a:rPr lang="en-US" dirty="0"/>
              <a:t>Zo </a:t>
            </a:r>
            <a:r>
              <a:rPr lang="en-US" dirty="0" err="1"/>
              <a:t>niet</a:t>
            </a:r>
            <a:r>
              <a:rPr lang="en-US" dirty="0"/>
              <a:t>? </a:t>
            </a:r>
            <a:r>
              <a:rPr lang="en-US" dirty="0" err="1"/>
              <a:t>Herhaal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</a:t>
            </a:r>
            <a:r>
              <a:rPr lang="en-US" dirty="0" err="1"/>
              <a:t>verbonden</a:t>
            </a:r>
            <a:r>
              <a:rPr lang="en-US" dirty="0"/>
              <a:t> node</a:t>
            </a:r>
          </a:p>
        </p:txBody>
      </p:sp>
      <p:pic>
        <p:nvPicPr>
          <p:cNvPr id="2050" name="Picture 2" descr="Graphs - Depth-first search: cycle finding - Competitive ...">
            <a:extLst>
              <a:ext uri="{FF2B5EF4-FFF2-40B4-BE49-F238E27FC236}">
                <a16:creationId xmlns:a16="http://schemas.microsoft.com/office/drawing/2014/main" id="{706EC61B-D201-6127-F488-7AAFE147A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365125"/>
            <a:ext cx="4762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637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9701-B6AD-CE6D-9D2B-DDD24C12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Pathfinding </a:t>
            </a:r>
            <a:r>
              <a:rPr lang="en-US" dirty="0" err="1"/>
              <a:t>begrippen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CD972-9C9A-4D29-7115-0AB18E28D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Uninformed (</a:t>
            </a:r>
            <a:r>
              <a:rPr lang="en-US" dirty="0" err="1"/>
              <a:t>naïef</a:t>
            </a:r>
            <a:r>
              <a:rPr lang="en-US" dirty="0"/>
              <a:t>/blind) vs. Informed (</a:t>
            </a:r>
            <a:r>
              <a:rPr lang="en-US" dirty="0" err="1"/>
              <a:t>heuristisch</a:t>
            </a:r>
            <a:r>
              <a:rPr lang="en-US" dirty="0"/>
              <a:t>)</a:t>
            </a:r>
          </a:p>
          <a:p>
            <a:r>
              <a:rPr lang="en-US" dirty="0"/>
              <a:t>Completeness</a:t>
            </a:r>
          </a:p>
          <a:p>
            <a:r>
              <a:rPr lang="en-US" dirty="0"/>
              <a:t>Optimality</a:t>
            </a:r>
          </a:p>
          <a:p>
            <a:r>
              <a:rPr lang="en-US" dirty="0"/>
              <a:t>Time Complexity vs Space Complexity</a:t>
            </a:r>
          </a:p>
        </p:txBody>
      </p:sp>
    </p:spTree>
    <p:extLst>
      <p:ext uri="{BB962C8B-B14F-4D97-AF65-F5344CB8AC3E}">
        <p14:creationId xmlns:p14="http://schemas.microsoft.com/office/powerpoint/2010/main" val="312437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B37B-BFD0-2D2A-7C35-B23ACDB9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FE49-72DE-DF6A-FCCD-7F6AA149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5972-AD68-D2BE-11C0-A07324A7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Nederlander, </a:t>
            </a:r>
            <a:r>
              <a:rPr lang="en-US" dirty="0" err="1"/>
              <a:t>overleden</a:t>
            </a:r>
            <a:r>
              <a:rPr lang="en-US" dirty="0"/>
              <a:t> in 2002</a:t>
            </a:r>
          </a:p>
          <a:p>
            <a:r>
              <a:rPr lang="en-US" dirty="0" err="1"/>
              <a:t>Wiskundige</a:t>
            </a:r>
            <a:r>
              <a:rPr lang="en-US" dirty="0"/>
              <a:t> + </a:t>
            </a:r>
            <a:r>
              <a:rPr lang="en-US" dirty="0" err="1"/>
              <a:t>programmeur</a:t>
            </a:r>
            <a:r>
              <a:rPr lang="en-US" dirty="0"/>
              <a:t> = computer scientist</a:t>
            </a:r>
          </a:p>
          <a:p>
            <a:r>
              <a:rPr lang="en-US" dirty="0" err="1"/>
              <a:t>Éérste</a:t>
            </a:r>
            <a:r>
              <a:rPr lang="en-US" dirty="0"/>
              <a:t> </a:t>
            </a:r>
            <a:r>
              <a:rPr lang="en-US" dirty="0" err="1"/>
              <a:t>programmeur</a:t>
            </a:r>
            <a:r>
              <a:rPr lang="en-US" dirty="0"/>
              <a:t> van Nederland</a:t>
            </a:r>
          </a:p>
          <a:p>
            <a:r>
              <a:rPr lang="en-US" dirty="0"/>
              <a:t>Dijkstra’s </a:t>
            </a:r>
            <a:r>
              <a:rPr lang="en-US" dirty="0" err="1"/>
              <a:t>Algoritme</a:t>
            </a:r>
            <a:r>
              <a:rPr lang="en-US" dirty="0"/>
              <a:t> al </a:t>
            </a:r>
            <a:r>
              <a:rPr lang="en-US" dirty="0" err="1"/>
              <a:t>bedacht</a:t>
            </a:r>
            <a:r>
              <a:rPr lang="en-US" dirty="0"/>
              <a:t> in 1956</a:t>
            </a:r>
          </a:p>
          <a:p>
            <a:r>
              <a:rPr lang="en-US" dirty="0"/>
              <a:t>In 1960 </a:t>
            </a:r>
            <a:r>
              <a:rPr lang="en-US" dirty="0" err="1"/>
              <a:t>eerste</a:t>
            </a:r>
            <a:r>
              <a:rPr lang="en-US" dirty="0"/>
              <a:t> compiler </a:t>
            </a:r>
            <a:r>
              <a:rPr lang="en-US" dirty="0" err="1"/>
              <a:t>voor</a:t>
            </a:r>
            <a:r>
              <a:rPr lang="en-US" dirty="0"/>
              <a:t> ALGOL 60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A9A93EC-1271-CD8C-E557-2E3FC1282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3321050"/>
            <a:ext cx="2381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418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AF96-A221-3DFC-F989-FBD79351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</a:t>
            </a:r>
            <a:r>
              <a:rPr lang="en-US" dirty="0" err="1"/>
              <a:t>Algoritme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34D98-7794-E775-C83E-B5B59B2F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Uninformed</a:t>
            </a:r>
          </a:p>
          <a:p>
            <a:r>
              <a:rPr lang="en-US" dirty="0" err="1"/>
              <a:t>Uitbreiding</a:t>
            </a:r>
            <a:r>
              <a:rPr lang="en-US" dirty="0"/>
              <a:t> op BFS, </a:t>
            </a:r>
            <a:r>
              <a:rPr lang="en-US" dirty="0" err="1"/>
              <a:t>speciaal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weighted graphs</a:t>
            </a:r>
          </a:p>
          <a:p>
            <a:endParaRPr lang="en-US" dirty="0"/>
          </a:p>
          <a:p>
            <a:r>
              <a:rPr lang="en-US" dirty="0" err="1"/>
              <a:t>Gegarandeerd</a:t>
            </a:r>
            <a:r>
              <a:rPr lang="en-US" dirty="0"/>
              <a:t> het </a:t>
            </a:r>
            <a:r>
              <a:rPr lang="en-US" dirty="0" err="1"/>
              <a:t>kortste</a:t>
            </a:r>
            <a:r>
              <a:rPr lang="en-US" dirty="0"/>
              <a:t> pad</a:t>
            </a:r>
          </a:p>
          <a:p>
            <a:r>
              <a:rPr lang="en-US" dirty="0"/>
              <a:t>Duur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9EC6A-D3C2-D4C7-CEA9-09766BAFD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096" y="3429000"/>
            <a:ext cx="6477904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69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9AA3-8B3F-BA00-B9AB-37C36A8A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ABCD4-E47C-1262-A5B1-EF13439A6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Combineert</a:t>
            </a:r>
            <a:r>
              <a:rPr lang="en-US" dirty="0"/>
              <a:t> </a:t>
            </a:r>
            <a:r>
              <a:rPr lang="en-US" dirty="0" err="1"/>
              <a:t>heuristiek</a:t>
            </a:r>
            <a:r>
              <a:rPr lang="en-US" dirty="0"/>
              <a:t> met de </a:t>
            </a:r>
            <a:r>
              <a:rPr lang="en-US" dirty="0" err="1"/>
              <a:t>echte</a:t>
            </a:r>
            <a:r>
              <a:rPr lang="en-US" dirty="0"/>
              <a:t> </a:t>
            </a:r>
            <a:r>
              <a:rPr lang="en-US" dirty="0" err="1"/>
              <a:t>afstand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Waarom</a:t>
            </a:r>
            <a:r>
              <a:rPr lang="en-US" dirty="0"/>
              <a:t> dan </a:t>
            </a:r>
            <a:r>
              <a:rPr lang="en-US" dirty="0" err="1"/>
              <a:t>ooit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Dijkstra?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634C3-F6B2-E82D-5CFB-435A59CA0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44" y="2236189"/>
            <a:ext cx="8534398" cy="3012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9A65F0-8020-DD98-BE24-76C311183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124" y="2304356"/>
            <a:ext cx="8303318" cy="291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6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C9871-8A65-6B43-5B5C-51C5934E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C419-85EF-082C-50CB-12B9E755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7E2E-66D9-B6F1-CBF8-ACA17ED6E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Combineert</a:t>
            </a:r>
            <a:r>
              <a:rPr lang="en-US" dirty="0"/>
              <a:t> </a:t>
            </a:r>
            <a:r>
              <a:rPr lang="en-US" dirty="0" err="1"/>
              <a:t>heuristiek</a:t>
            </a:r>
            <a:r>
              <a:rPr lang="en-US" dirty="0"/>
              <a:t> met de </a:t>
            </a:r>
            <a:r>
              <a:rPr lang="en-US" dirty="0" err="1"/>
              <a:t>echte</a:t>
            </a:r>
            <a:r>
              <a:rPr lang="en-US" dirty="0"/>
              <a:t> </a:t>
            </a:r>
            <a:r>
              <a:rPr lang="en-US" dirty="0" err="1"/>
              <a:t>afstand</a:t>
            </a:r>
            <a:r>
              <a:rPr lang="en-US" dirty="0"/>
              <a:t>: f(n) = g(n)+h(n)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Waarom</a:t>
            </a:r>
            <a:r>
              <a:rPr lang="en-US" dirty="0"/>
              <a:t> dan </a:t>
            </a:r>
            <a:r>
              <a:rPr lang="en-US" dirty="0" err="1"/>
              <a:t>ooit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Dijkstra?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CDD5E-C871-9B42-475B-0CB1F6B4B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44" y="2236189"/>
            <a:ext cx="8534398" cy="301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2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F2C8-EB8B-39B6-7C21-74FC5C70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Samenvattend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71C5F-3BE0-A866-B256-5C557F68B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 </a:t>
            </a:r>
            <a:r>
              <a:rPr lang="en-US" dirty="0" err="1"/>
              <a:t>doel</a:t>
            </a:r>
            <a:r>
              <a:rPr lang="en-US" dirty="0"/>
              <a:t> </a:t>
            </a:r>
            <a:r>
              <a:rPr lang="en-US" dirty="0" err="1"/>
              <a:t>bepaalt</a:t>
            </a:r>
            <a:r>
              <a:rPr lang="en-US" dirty="0"/>
              <a:t> welk </a:t>
            </a:r>
            <a:r>
              <a:rPr lang="en-US" dirty="0" err="1"/>
              <a:t>algoritme</a:t>
            </a:r>
            <a:r>
              <a:rPr lang="en-US" dirty="0"/>
              <a:t> je </a:t>
            </a:r>
            <a:r>
              <a:rPr lang="en-US" dirty="0" err="1"/>
              <a:t>kiest</a:t>
            </a:r>
            <a:endParaRPr lang="en-US" dirty="0"/>
          </a:p>
          <a:p>
            <a:pPr lvl="1"/>
            <a:r>
              <a:rPr lang="en-US" dirty="0"/>
              <a:t>Wat is je </a:t>
            </a:r>
            <a:r>
              <a:rPr lang="en-US" dirty="0" err="1"/>
              <a:t>zoekruimte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Enkel </a:t>
            </a:r>
            <a:r>
              <a:rPr lang="en-US" dirty="0" err="1"/>
              <a:t>doel</a:t>
            </a:r>
            <a:r>
              <a:rPr lang="en-US" dirty="0"/>
              <a:t> of </a:t>
            </a:r>
            <a:r>
              <a:rPr lang="en-US" dirty="0" err="1"/>
              <a:t>meerdere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Wat is </a:t>
            </a:r>
            <a:r>
              <a:rPr lang="en-US" dirty="0" err="1"/>
              <a:t>belangrijk</a:t>
            </a:r>
            <a:r>
              <a:rPr lang="en-US" dirty="0"/>
              <a:t> - performance of </a:t>
            </a:r>
            <a:r>
              <a:rPr lang="en-US" dirty="0" err="1"/>
              <a:t>precisie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En </a:t>
            </a:r>
            <a:r>
              <a:rPr lang="en-US" dirty="0" err="1"/>
              <a:t>als</a:t>
            </a:r>
            <a:r>
              <a:rPr lang="en-US" dirty="0"/>
              <a:t> het performance is, </a:t>
            </a:r>
            <a:r>
              <a:rPr lang="en-US" dirty="0" err="1"/>
              <a:t>welke</a:t>
            </a:r>
            <a:r>
              <a:rPr lang="en-US" dirty="0"/>
              <a:t> dan?</a:t>
            </a:r>
          </a:p>
        </p:txBody>
      </p:sp>
    </p:spTree>
    <p:extLst>
      <p:ext uri="{BB962C8B-B14F-4D97-AF65-F5344CB8AC3E}">
        <p14:creationId xmlns:p14="http://schemas.microsoft.com/office/powerpoint/2010/main" val="171774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8FD0-09C3-5512-034E-6AAB346D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Verder..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9B41D-9DFB-F2E0-04B4-3647A71E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statisch</a:t>
            </a:r>
            <a:r>
              <a:rPr lang="en-US" dirty="0"/>
              <a:t>, maar </a:t>
            </a:r>
            <a:r>
              <a:rPr lang="en-US" dirty="0" err="1"/>
              <a:t>dynamisch</a:t>
            </a:r>
            <a:r>
              <a:rPr lang="en-US" dirty="0"/>
              <a:t>? -&gt; D*</a:t>
            </a:r>
          </a:p>
          <a:p>
            <a:r>
              <a:rPr lang="en-US" dirty="0"/>
              <a:t>Multi-agent pathfinding</a:t>
            </a:r>
          </a:p>
        </p:txBody>
      </p:sp>
    </p:spTree>
    <p:extLst>
      <p:ext uri="{BB962C8B-B14F-4D97-AF65-F5344CB8AC3E}">
        <p14:creationId xmlns:p14="http://schemas.microsoft.com/office/powerpoint/2010/main" val="287096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570</Words>
  <Application>Microsoft Office PowerPoint</Application>
  <PresentationFormat>Widescreen</PresentationFormat>
  <Paragraphs>83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Graphs &amp; Pathfinding</vt:lpstr>
      <vt:lpstr>Planning</vt:lpstr>
      <vt:lpstr>Herhaling Graphs</vt:lpstr>
      <vt:lpstr>Herhaling DFS, BFS</vt:lpstr>
      <vt:lpstr>Pathfinding begrippen</vt:lpstr>
      <vt:lpstr>Dijkstra</vt:lpstr>
      <vt:lpstr>Dijkstra’s Algoritme</vt:lpstr>
      <vt:lpstr>A*</vt:lpstr>
      <vt:lpstr>A*</vt:lpstr>
      <vt:lpstr>Samenvattend</vt:lpstr>
      <vt:lpstr>Verder..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Goris</dc:creator>
  <cp:lastModifiedBy>Nick Goris</cp:lastModifiedBy>
  <cp:revision>4</cp:revision>
  <dcterms:created xsi:type="dcterms:W3CDTF">2026-04-19T17:11:55Z</dcterms:created>
  <dcterms:modified xsi:type="dcterms:W3CDTF">2026-04-19T20:04:37Z</dcterms:modified>
</cp:coreProperties>
</file>